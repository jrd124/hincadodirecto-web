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3" d="100"/>
          <a:sy n="103" d="100"/>
        </p:scale>
        <p:origin x="992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200" b="0">
                <a:solidFill>
                  <a:srgbClr val="D4A843"/>
                </a:solidFill>
                <a:latin typeface="Calibri"/>
              </a:defRPr>
            </a:pPr>
            <a:r>
              <a:t>PRECISIÓN EN CADA HINCA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04131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Especialistas</a:t>
            </a:r>
            <a:r>
              <a:rPr dirty="0"/>
              <a:t> </a:t>
            </a:r>
            <a:r>
              <a:t>en, </a:t>
            </a:r>
            <a:r>
              <a:rPr dirty="0" err="1"/>
              <a:t>montaje</a:t>
            </a:r>
            <a:endParaRPr dirty="0"/>
          </a:p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y </a:t>
            </a:r>
            <a:r>
              <a:rPr dirty="0" err="1"/>
              <a:t>servicios</a:t>
            </a:r>
            <a:r>
              <a:rPr dirty="0"/>
              <a:t> para </a:t>
            </a:r>
            <a:r>
              <a:rPr dirty="0" err="1"/>
              <a:t>energía</a:t>
            </a:r>
            <a:r>
              <a:rPr dirty="0"/>
              <a:t> e </a:t>
            </a:r>
            <a:r>
              <a:rPr dirty="0" err="1"/>
              <a:t>infraestructuras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Presentación Corporativa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7" y="1371600"/>
            <a:ext cx="7315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HINCADO DIRECTO EN CIFRAS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 experiencia se mide en obra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200400" cy="15544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+3.800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MW EJECUTADOS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647" y="201168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5647" y="2240280"/>
            <a:ext cx="3200400" cy="15544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+55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PROYECTOS COMPLETADOS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9775" y="201168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9775" y="2240280"/>
            <a:ext cx="3200400" cy="15544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PAÍSES · ES · FR · PT ·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3200400" cy="15544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9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EQUIPOS EN CAMPO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5647" y="420624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5647" y="4434840"/>
            <a:ext cx="3200400" cy="15544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+20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AÑOS DE EXPERIENCIA DEL EQUIPO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9775" y="420624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9775" y="4434840"/>
            <a:ext cx="3200400" cy="15544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15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PROFESIONALES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SOBRE NOSOTROS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El trabajo se hace. Y se hace bien.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Fundada en 2019, Hincado Directo nace como empresa especializada en hincado de perfilería para plantas solares fotovoltaicas.</a:t>
            </a:r>
            <a:br/>
            <a:br/>
            <a:r>
              <a:t>Hoy operamos en toda la cadena de cimentación y montaje: hincado, perforado, ensayos POT, mecanizado y control de calidad, tanto en energía solar como en obra civil e infraestructuras.</a:t>
            </a:r>
            <a:br/>
            <a:br/>
            <a:r>
              <a:t>Un equipo de 15 profesionales con más de 20 años de experiencia acumulada en el sector, operando en 4 países europeos con flota propia de 9 equipos.</a:t>
            </a:r>
          </a:p>
        </p:txBody>
      </p:sp>
      <p:pic>
        <p:nvPicPr>
          <p:cNvPr id="7" name="Picture 6" descr="foto_maquinaria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3771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4114800"/>
            <a:ext cx="4572000" cy="438912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4114800"/>
            <a:ext cx="50800" cy="43891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4160520"/>
            <a:ext cx="420624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Operando desde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4663440"/>
            <a:ext cx="4572000" cy="438912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0" y="4663440"/>
            <a:ext cx="50800" cy="43891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4709160"/>
            <a:ext cx="420624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Flota propia de 9 equipos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5212080"/>
            <a:ext cx="4572000" cy="438912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5212080"/>
            <a:ext cx="50800" cy="43891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5257800"/>
            <a:ext cx="420624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España · Francia · Portugal ·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ogo_hincado_banne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NUESTROS 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Todo lo que hacemos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Desde los ensayos de terreno hasta la ejecución completa. Un único interlocutor, un estándar de calidad sin concesiones.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39572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4-Point Star 9"/>
          <p:cNvSpPr/>
          <p:nvPr/>
        </p:nvSpPr>
        <p:spPr>
          <a:xfrm>
            <a:off x="1088135" y="2523743"/>
            <a:ext cx="292608" cy="292608"/>
          </a:xfrm>
          <a:prstGeom prst="star4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2468880"/>
            <a:ext cx="45720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196596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Topografía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29000"/>
            <a:ext cx="196596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Replanteo y levantamientos topográficos en obra con equipos propios y precisión milimétrica.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018" y="219456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00018" y="219456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28618" y="239572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Up-Down Arrow 16"/>
          <p:cNvSpPr/>
          <p:nvPr/>
        </p:nvSpPr>
        <p:spPr>
          <a:xfrm>
            <a:off x="3856633" y="2523743"/>
            <a:ext cx="292608" cy="292608"/>
          </a:xfrm>
          <a:prstGeom prst="upDownArrow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8818" y="2468880"/>
            <a:ext cx="45720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8618" y="3063240"/>
            <a:ext cx="196596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Ensayos POT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8618" y="3429000"/>
            <a:ext cx="196596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Pull Out Test: tracción, compresión y carga lateral para dimensionar la cimentación con precisión.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219456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8516" y="219456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97116" y="239572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nut 23"/>
          <p:cNvSpPr/>
          <p:nvPr/>
        </p:nvSpPr>
        <p:spPr>
          <a:xfrm>
            <a:off x="6625131" y="2523743"/>
            <a:ext cx="292608" cy="292608"/>
          </a:xfrm>
          <a:prstGeom prst="donu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7316" y="2468880"/>
            <a:ext cx="45720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7116" y="3063240"/>
            <a:ext cx="196596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7116" y="3429000"/>
            <a:ext cx="196596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Pre-drilling y perforación para terrenos de alta resistencia o roca donde el hincado directo no es viable.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7015" y="219456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37015" y="219456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65615" y="239572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wn Arrow 30"/>
          <p:cNvSpPr/>
          <p:nvPr/>
        </p:nvSpPr>
        <p:spPr>
          <a:xfrm>
            <a:off x="9393630" y="2523743"/>
            <a:ext cx="292608" cy="292608"/>
          </a:xfrm>
          <a:prstGeom prst="downArrow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65815" y="2468880"/>
            <a:ext cx="45720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5615" y="3063240"/>
            <a:ext cx="196596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Hincado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5615" y="3429000"/>
            <a:ext cx="196596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Hincado directo de perfiles metálicos para todo tipo de terrenos y escalas de proyecto.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15769" y="434340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115769" y="434340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344369" y="454456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Gear 6 37"/>
          <p:cNvSpPr/>
          <p:nvPr/>
        </p:nvSpPr>
        <p:spPr>
          <a:xfrm>
            <a:off x="2472384" y="4672583"/>
            <a:ext cx="292608" cy="292608"/>
          </a:xfrm>
          <a:prstGeom prst="gear6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44569" y="4617720"/>
            <a:ext cx="45720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44369" y="5212080"/>
            <a:ext cx="196596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Mecanizado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4369" y="5577840"/>
            <a:ext cx="196596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Corte de perfiles hincados a la cota exacta requerida por el diseño de la estructura.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84267" y="434340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84267" y="434340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112867" y="454456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5-Point Star 44"/>
          <p:cNvSpPr/>
          <p:nvPr/>
        </p:nvSpPr>
        <p:spPr>
          <a:xfrm>
            <a:off x="5240882" y="4672583"/>
            <a:ext cx="292608" cy="292608"/>
          </a:xfrm>
          <a:prstGeom prst="star5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13067" y="4617720"/>
            <a:ext cx="45720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12867" y="5212080"/>
            <a:ext cx="196596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Control de Calidad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2867" y="5577840"/>
            <a:ext cx="196596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Verificación de alineación, verticalidad y profundidad. Informes de obra detallados.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52766" y="434340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652766" y="434340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881366" y="454456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ight Arrow 51"/>
          <p:cNvSpPr/>
          <p:nvPr/>
        </p:nvSpPr>
        <p:spPr>
          <a:xfrm>
            <a:off x="8009381" y="4672583"/>
            <a:ext cx="292608" cy="292608"/>
          </a:xfrm>
          <a:prstGeom prst="rightArrow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81566" y="4617720"/>
            <a:ext cx="45720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1366" y="5212080"/>
            <a:ext cx="196596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Reparto y Montaje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1366" y="5577840"/>
            <a:ext cx="196596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Logística de material en planta y montaje de estructuras sobre los perfiles hincados.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rPr lang="es-ES_tradnl" noProof="1"/>
              <a:t>SERVICIO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ES_tradnl" noProof="1"/>
              <a:t>Hincado y perforado de perfilería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84832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029200" cy="2051844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ES_tradnl" noProof="1"/>
              <a:t>Hincado directo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lang="es-ES_tradnl" noProof="1"/>
              <a:t>Instalación de perfiles metálicos mediante impacto.Nuestras máquinas disponen de diferentes huellas en martillo para asegurar el maximo agarre del perfil. </a:t>
            </a:r>
            <a:br>
              <a:rPr lang="es-ES_tradnl" noProof="1"/>
            </a:br>
            <a:r>
              <a:rPr lang="es-ES_tradnl" noProof="1"/>
              <a:t>Adicionalmente, se disponende “uñas” o agarres también personalizados para el perfil para minimizer los revires.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endParaRPr lang="es-ES_tradnl" noProof="1"/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lang="es-ES_tradnl" noProof="1"/>
              <a:t>Nuestro objetivo para nuestros clientes es </a:t>
            </a:r>
            <a:r>
              <a:rPr lang="es-ES_tradnl" b="1" noProof="1"/>
              <a:t>minimizar</a:t>
            </a:r>
            <a:r>
              <a:rPr lang="es-ES_tradnl" noProof="1"/>
              <a:t> los sobrecostes y los retrasos por retrabajos o arreglos.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endParaRPr lang="es-ES_tradnl" noProof="1"/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lang="es-ES_tradnl" noProof="1"/>
              <a:t>Nuestros trabajadores son expertos hincadores y gestores de proyectos, con experiencia en tdos los tipos de suelo y multiples seguidores.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7355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9" name="TextBox 8"/>
          <p:cNvSpPr txBox="1"/>
          <p:nvPr/>
        </p:nvSpPr>
        <p:spPr>
          <a:xfrm>
            <a:off x="960120" y="4200398"/>
            <a:ext cx="5029200" cy="1205458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ES_tradnl" noProof="1"/>
              <a:t>Pre-drilling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lang="es-ES_tradnl" noProof="1"/>
              <a:t>Perforación previa para terrenos de alta resistencia, roca o estratos duros.Nuestra maquinaria permite al conductor de la máquina estar encima del punto de perforado para asegurar máxima precisión. 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endParaRPr lang="es-ES_tradnl" noProof="1"/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lang="es-ES_tradnl" noProof="1"/>
              <a:t>Disponemos de multiples diámetros para las necesidades de nuestros clientes. </a:t>
            </a:r>
          </a:p>
        </p:txBody>
      </p:sp>
      <p:pic>
        <p:nvPicPr>
          <p:cNvPr id="14" name="Picture 13" descr="foto_maquinaria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4846320" cy="36347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0" y="5120640"/>
            <a:ext cx="4846320" cy="118872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6" name="Rectangle 15"/>
          <p:cNvSpPr/>
          <p:nvPr/>
        </p:nvSpPr>
        <p:spPr>
          <a:xfrm>
            <a:off x="6583680" y="5120640"/>
            <a:ext cx="50800" cy="1188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7" name="TextBox 16"/>
          <p:cNvSpPr txBox="1"/>
          <p:nvPr/>
        </p:nvSpPr>
        <p:spPr>
          <a:xfrm>
            <a:off x="6858000" y="5257800"/>
            <a:ext cx="4297680" cy="8686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D4A843"/>
                </a:solidFill>
                <a:latin typeface="Calibri"/>
              </a:defRPr>
            </a:pPr>
            <a:r>
              <a:rPr lang="es-ES_tradnl" noProof="1"/>
              <a:t>9 equipos operativos simultáneos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lang="es-ES_tradnl" noProof="1"/>
              <a:t>Capacidad para múltiples proyectos en paralelo en España, Francia, Portugal e Italia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9" name="Picture 18" descr="logo_hincado_banne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ENSAYOS Y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Pull Out Test: datos fiables antes de ejecutar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Ensayos de hincado y pruebas POT con ciclos de carga predefinidos. Datos reales para dimensionar la cimentación con precisión.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291840" cy="219456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2918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743200" cy="17373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Tracción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Ensayos de extracción para verificar la capacidad de anclaje del perfil hincado en el terreno real del proyecto.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9927" y="2286000"/>
            <a:ext cx="3291840" cy="219456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49927" y="2286000"/>
            <a:ext cx="32918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4247" y="2606040"/>
            <a:ext cx="2743200" cy="17373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Compresión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Pruebas de carga vertical para verificar la capacidad portante del perfil bajo carga de la estructura.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8335" y="2286000"/>
            <a:ext cx="3291840" cy="219456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8335" y="2286000"/>
            <a:ext cx="32918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2655" y="2606040"/>
            <a:ext cx="2743200" cy="17373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Carga lateral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Ensayos de empuje lateral para simular las acciones del viento sobre la estructura.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10728655" cy="100584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50800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10088575" cy="7315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D4A843"/>
                </a:solidFill>
                <a:latin typeface="Calibri"/>
              </a:defRPr>
            </a:pPr>
            <a:r>
              <a:t>¿Por qué importa?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Un ensayo POT bien ejecutado evita sobredimensionamientos costosos y detecta problemas de terreno antes de comprometer la producción del hincado masivo.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SERVICIOS COMPLEMENTARIOS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Mecanizado y control de calidad en obra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00" cy="393192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029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389120" cy="34747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Mecanizado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4A843"/>
                </a:solidFill>
                <a:latin typeface="Calibri"/>
              </a:defRPr>
            </a:pPr>
            <a:r>
              <a:t>Corte de perfiles a cota</a:t>
            </a:r>
          </a:p>
          <a:p>
            <a:pPr algn="l">
              <a:spcAft>
                <a:spcPts val="18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Una vez hincados, los perfiles pueden quedar a alturas desiguales. El mecanizado consiste en el corte preciso de cada perfil a la cota exacta requerida por el diseño de la estructura.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4A843"/>
                </a:solidFill>
                <a:latin typeface="Calibri"/>
              </a:defRPr>
            </a:pPr>
            <a:r>
              <a:t>Precisión milimétrica</a:t>
            </a:r>
          </a:p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Garantizamos que cada perfil queda a la altura especificada, asegurando un montaje correcto y evitando tensiones mecánicas.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5029200" cy="393192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029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240280"/>
            <a:ext cx="4389120" cy="34747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Control de calidad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4A843"/>
                </a:solidFill>
                <a:latin typeface="Calibri"/>
              </a:defRPr>
            </a:pPr>
            <a:r>
              <a:t>Verificación integral</a:t>
            </a:r>
          </a:p>
          <a:p>
            <a:pPr algn="l">
              <a:spcAft>
                <a:spcPts val="18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Revisión sistemática de todos los perfiles hincados: alineación, verticalidad, profundidad y posición respecto al diseño.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4A843"/>
                </a:solidFill>
                <a:latin typeface="Calibri"/>
              </a:defRPr>
            </a:pPr>
            <a:r>
              <a:t>Informes de obra</a:t>
            </a:r>
          </a:p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Documentación detallada: cuántos perfiles cumplen especificaciones, cuáles requieren retoque o rehincado. Trazabilidad completa.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SECTORES DE 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Más allá de la energía solar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Nuestra experiencia en hincado y perforado se aplica a múltiples sectores donde la cimentación mediante perfilería es clave.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29200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297680" cy="32918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Energía Solar Fotovoltaica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Nuestro sector principal. +3.800 MW ejecutados en plantas solares de todos los tamaños.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Plantas utility-scale (&gt;50 MW)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Plantas medianas y distribuidas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Estructuras fijas y trackers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Hincado, perforado, POT, mecanizado y calidad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02920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029200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4297680" cy="32918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Obra Civil e Infraestructuras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La misma técnica de hincado aplicada a infraestructuras de obra civil.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Barreras de seguridad vial (quitamiedos)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Soportes y postes hincados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Vallados y cerramientos industriales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Cimentación mediante perfilería metálica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Flota propia, capacidad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Dos modelos de referencia del sector, adaptados a las regulaciones medioambientales europeas.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29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4389120" cy="5486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A843"/>
                </a:solidFill>
                <a:latin typeface="Calibri"/>
              </a:defRPr>
            </a:pPr>
            <a:r>
              <a:t>Hincadoras</a:t>
            </a:r>
          </a:p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7× Orteco 1000 HD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438912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Hincadora hidráulica de alto rendimiento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0208"/>
            <a:ext cx="438912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Capacidad en todo tipo de terrenos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34256"/>
            <a:ext cx="438912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Posicionamiento de alta precisión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18304"/>
            <a:ext cx="438912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Normativa medioambiental 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5029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2560320"/>
            <a:ext cx="4389120" cy="5486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A843"/>
                </a:solidFill>
                <a:latin typeface="Calibri"/>
              </a:defRPr>
            </a:pPr>
            <a:r>
              <a:t>Perforadoras-Hincadoras</a:t>
            </a:r>
          </a:p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2× Faga MHPW 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566160"/>
            <a:ext cx="438912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Dual: perforación + hincado integrado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950208"/>
            <a:ext cx="438912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Ideal para roca o alta resistencia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334256"/>
            <a:ext cx="438912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Versatilidad máxima en un equipo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718304"/>
            <a:ext cx="438912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Operador profesional incluido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760720"/>
            <a:ext cx="10728655" cy="411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728655" cy="41148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Alquiler siempre con operador profesional  ·  Ayudante opcional  ·  Cobertura: España, Francia, Portugal e Italia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PRESENCIA INTERNACIONAL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Dónde operamos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46888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4688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011680" cy="33832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España</a:t>
            </a:r>
          </a:p>
          <a:p>
            <a:pPr algn="l">
              <a:spcAft>
                <a:spcPts val="1600"/>
              </a:spcAft>
              <a:defRPr sz="900" b="1">
                <a:solidFill>
                  <a:srgbClr val="D4A843"/>
                </a:solidFill>
                <a:latin typeface="Calibri"/>
              </a:defRPr>
            </a:pPr>
            <a:r>
              <a:t>SEDE CENTRAL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Base principal de operaciones.</a:t>
            </a:r>
            <a:br/>
            <a:r>
              <a:t>Mayoría de los +55 proyectos</a:t>
            </a:r>
            <a:br/>
            <a:r>
              <a:t>en territorio nacional.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4778" y="1920240"/>
            <a:ext cx="246888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84778" y="1920240"/>
            <a:ext cx="24688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13378" y="2240280"/>
            <a:ext cx="2011680" cy="33832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Francia</a:t>
            </a:r>
          </a:p>
          <a:p>
            <a:pPr algn="l">
              <a:spcAft>
                <a:spcPts val="1600"/>
              </a:spcAft>
              <a:defRPr sz="900" b="1">
                <a:solidFill>
                  <a:srgbClr val="D4A843"/>
                </a:solidFill>
                <a:latin typeface="Calibri"/>
              </a:defRPr>
            </a:pPr>
            <a:r>
              <a:t>PROYECTOS EJECUTADOS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Proyectos en el sur de Francia:</a:t>
            </a:r>
            <a:br/>
            <a:r>
              <a:t>Sillans la Cascade,</a:t>
            </a:r>
            <a:br/>
            <a:r>
              <a:t>Châteauvert, entre otros.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8036" y="1920240"/>
            <a:ext cx="246888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8036" y="1920240"/>
            <a:ext cx="24688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6636" y="2240280"/>
            <a:ext cx="2011680" cy="33832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Portugal</a:t>
            </a:r>
          </a:p>
          <a:p>
            <a:pPr algn="l">
              <a:spcAft>
                <a:spcPts val="1600"/>
              </a:spcAft>
              <a:defRPr sz="900" b="1">
                <a:solidFill>
                  <a:srgbClr val="D4A843"/>
                </a:solidFill>
                <a:latin typeface="Calibri"/>
              </a:defRPr>
            </a:pPr>
            <a:r>
              <a:t>PROYECTOS EJECUTADOS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Presencia en Alentejo:</a:t>
            </a:r>
            <a:br/>
            <a:r>
              <a:t>PV Morgavel, São Teotonio</a:t>
            </a:r>
            <a:br/>
            <a:r>
              <a:t>y proyectos adicionales.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1295" y="1920240"/>
            <a:ext cx="246888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91295" y="1920240"/>
            <a:ext cx="24688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9895" y="2240280"/>
            <a:ext cx="2011680" cy="33832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Italia</a:t>
            </a:r>
          </a:p>
          <a:p>
            <a:pPr algn="l">
              <a:spcAft>
                <a:spcPts val="1600"/>
              </a:spcAft>
              <a:defRPr sz="900" b="1">
                <a:solidFill>
                  <a:srgbClr val="D4A843"/>
                </a:solidFill>
                <a:latin typeface="Calibri"/>
              </a:defRPr>
            </a:pPr>
            <a:r>
              <a:t>EN EXPANSIÓN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Capacidad de movilización</a:t>
            </a:r>
            <a:br/>
            <a:r>
              <a:t>desde nuestra base.</a:t>
            </a:r>
            <a:br/>
            <a:r>
              <a:t>Mercado en desarrollo.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+3.800 MW ejecutados con los principales EPCs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Proyecto</a:t>
                      </a:r>
                    </a:p>
                  </a:txBody>
                  <a:tcPr marL="101600" marT="76200" marB="76200">
                    <a:solidFill>
                      <a:srgbClr val="1A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MW</a:t>
                      </a:r>
                    </a:p>
                  </a:txBody>
                  <a:tcPr marL="101600" marT="76200" marB="76200">
                    <a:solidFill>
                      <a:srgbClr val="1A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País</a:t>
                      </a:r>
                    </a:p>
                  </a:txBody>
                  <a:tcPr marL="101600" marT="76200" marB="76200">
                    <a:solidFill>
                      <a:srgbClr val="1A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EPC / Cliente</a:t>
                      </a:r>
                    </a:p>
                  </a:txBody>
                  <a:tcPr marL="101600" marT="76200" marB="76200">
                    <a:solidFill>
                      <a:srgbClr val="1A1F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Estructura</a:t>
                      </a:r>
                    </a:p>
                  </a:txBody>
                  <a:tcPr marL="101600" marT="76200" marB="76200">
                    <a:solidFill>
                      <a:srgbClr val="1A1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Mula Solar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342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España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TSK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Ceclavín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España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Elecnor / Engie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Trina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 Nava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España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Engie / Sacyr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Nextracker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Algibyo + Girasoles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España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GES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Manzanares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155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España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FCC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Escatrón I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153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España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Prodiel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Garoña + La Muela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España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Axial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Nextracker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Talayuela II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España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FCC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Sillans la Cascade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Francia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Cobra / Engie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 Morgavel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Portugal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GES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L="101600" marT="76200" marB="76200">
                    <a:solidFill>
                      <a:srgbClr val="23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Otros (+45 proyectos)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+1.975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ES/FR/PT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Varios EPCs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Varios</a:t>
                      </a:r>
                    </a:p>
                  </a:txBody>
                  <a:tcPr marL="101600" marT="76200" marB="76200">
                    <a:solidFill>
                      <a:srgbClr val="1E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solidFill>
            <a:srgbClr val="2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spAutoFit/>
          </a:bodyPr>
          <a:lstStyle/>
          <a:p>
            <a:pPr algn="ctr">
              <a:defRPr sz="1100" b="1">
                <a:solidFill>
                  <a:srgbClr val="D4A843"/>
                </a:solidFill>
                <a:latin typeface="Calibri"/>
              </a:defRPr>
            </a:pPr>
            <a:r>
              <a:t>Total: +3.800 MW  ·  +55 proyectos  ·  4 países  ·  +15 EPCs diferentes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CONFÍAN EN NOSOTROS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000" b="1">
                <a:solidFill>
                  <a:srgbClr val="161B2E"/>
                </a:solidFill>
                <a:latin typeface="Calibri"/>
              </a:defRPr>
            </a:pPr>
            <a:r>
              <a:t>Empresas que trabajan con Hincado Directo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+15 EPCs, promotores y fabricantes de estructura nos han confiado sus proyectos.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GRUPO COBRA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913827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3827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ENGIE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96134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6134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SACYR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78441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441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FCC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0748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0748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TSK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ELECNOR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13827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3827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PRODIEL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96134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6134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8441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441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AXIAL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0748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0748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GRUPO ORTIZ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ZELESTRA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13827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13827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SUNCRAFT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6134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134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ARESOL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78441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441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PVH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60748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0748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NEXTRACKER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TRINA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13827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13827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AJ BRAND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96134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96134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TCI GECOMP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78441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8441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IBÉRICA RENOV.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60748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0748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TILSECO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2636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defRPr sz="1100" b="1">
                <a:solidFill>
                  <a:srgbClr val="D4A843"/>
                </a:solidFill>
                <a:latin typeface="Calibri"/>
              </a:defRPr>
            </a:pPr>
            <a:r>
              <a:t>+ CRC  ·  OSMOS  ·  y otros partners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850392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Hablemos de su próximo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566160"/>
            <a:ext cx="7589520" cy="457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Más de 3.800 MW nos respaldan. Estamos preparados para su próximo desafío.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2743200" cy="10972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572000"/>
            <a:ext cx="22860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D4A843"/>
                </a:solidFill>
                <a:latin typeface="Calibri"/>
              </a:defRPr>
            </a:pPr>
            <a:r>
              <a:t>Dirección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Duque de Sevilla 3, Bajo</a:t>
            </a:r>
            <a:br/>
            <a:r>
              <a:t>28002 Madrid, España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4389120"/>
            <a:ext cx="2743200" cy="10972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24247" y="438912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52847" y="4572000"/>
            <a:ext cx="22860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D4A843"/>
                </a:solidFill>
                <a:latin typeface="Calibri"/>
              </a:defRPr>
            </a:pPr>
            <a:r>
              <a:t>Teléfono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+34 641 43 81 26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16975" y="4389120"/>
            <a:ext cx="2743200" cy="10972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16975" y="438912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45575" y="4572000"/>
            <a:ext cx="22860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D4A843"/>
                </a:solidFill>
                <a:latin typeface="Calibri"/>
              </a:defRPr>
            </a:pPr>
            <a:r>
              <a:t>Web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www.hincadodirecto.com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669280"/>
            <a:ext cx="8503920" cy="307777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400" b="0">
                <a:solidFill>
                  <a:srgbClr val="D4A843"/>
                </a:solidFill>
                <a:latin typeface="Calibri"/>
              </a:defRPr>
            </a:pPr>
            <a:r>
              <a:rPr lang="en-US" dirty="0" err="1"/>
              <a:t>direccion</a:t>
            </a:r>
            <a:r>
              <a:rPr dirty="0" err="1"/>
              <a:t>@hincadodirecto.com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7" y="640080"/>
            <a:ext cx="7315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1212</Words>
  <Application>Microsoft Macintosh PowerPoint</Application>
  <PresentationFormat>Widescreen</PresentationFormat>
  <Paragraphs>226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Sergio García</cp:lastModifiedBy>
  <cp:revision>3</cp:revision>
  <dcterms:created xsi:type="dcterms:W3CDTF">2013-01-27T09:14:16Z</dcterms:created>
  <dcterms:modified xsi:type="dcterms:W3CDTF">2026-04-11T07:02:34Z</dcterms:modified>
  <cp:category/>
</cp:coreProperties>
</file>