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200" b="0">
                <a:solidFill>
                  <a:srgbClr val="D4A843"/>
                </a:solidFill>
                <a:latin typeface="Calibri"/>
              </a:defRPr>
            </a:pPr>
            <a:r>
              <a:t>PRECISION IN EVERY PILE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Foundation, assembly and services</a:t>
            </a:r>
          </a:p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for energy and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Corporate Presentation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137160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HINCADO DIRECTO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Experience measured on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+3,800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MW INSTALLED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647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224028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+55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PROJECTS COMPLETED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9775" y="201168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9775" y="224028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COUNTRIES · ES · FR · PT ·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9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FIELD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5647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443484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+20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YEARS OF TEAM EXPERIENCE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9775" y="4206240"/>
            <a:ext cx="3200400" cy="18288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9775" y="443484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D4A843"/>
                </a:solidFill>
                <a:latin typeface="Calibri"/>
              </a:defRPr>
            </a:pPr>
            <a:r>
              <a:t>15</a:t>
            </a:r>
          </a:p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PROFESSIONALS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job gets done. And it gets done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Founded in 2019, Hincado Directo started as a company specializing in pile driving for solar photovoltaic plants.</a:t>
            </a:r>
            <a:br/>
            <a:br/>
            <a:r>
              <a:t>Today we operate across the entire foundation and assembly chain: pile driving, drilling, POT testing, machining and quality control, in both solar energy and civil works.</a:t>
            </a:r>
            <a:br/>
            <a:br/>
            <a:r>
              <a:t>A team of 15 professionals with over 20 years of combined industry experience, operating in 4 European countries with our own fleet of 9 machines.</a:t>
            </a:r>
          </a:p>
        </p:txBody>
      </p:sp>
      <p:pic>
        <p:nvPicPr>
          <p:cNvPr id="7" name="Picture 6" descr="foto_maquinaria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411480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411480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4160520"/>
            <a:ext cx="420624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Operating since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66344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466344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709160"/>
            <a:ext cx="420624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Own fleet of 9 machines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5212080"/>
            <a:ext cx="4572000" cy="438912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5212080"/>
            <a:ext cx="50800" cy="43891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5257800"/>
            <a:ext cx="420624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Spain · France · Portugal · Italy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_hincado_bann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OUR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Everything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From soil testing to full execution. A single point of contact, an uncompromising quality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1088135" y="2523743"/>
            <a:ext cx="292608" cy="292608"/>
          </a:xfrm>
          <a:prstGeom prst="star4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Surveying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On-site staking and topographic surveys with in-house equipment and millimetric precision.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018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18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28618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Up-Down Arrow 16"/>
          <p:cNvSpPr/>
          <p:nvPr/>
        </p:nvSpPr>
        <p:spPr>
          <a:xfrm>
            <a:off x="3856633" y="2523743"/>
            <a:ext cx="292608" cy="292608"/>
          </a:xfrm>
          <a:prstGeom prst="upDown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8818" y="24688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8618" y="306324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POT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8618" y="342900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Pull Out Test: tension, compression and lateral load tests to dimension foundations precisely.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8516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7116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nut 23"/>
          <p:cNvSpPr/>
          <p:nvPr/>
        </p:nvSpPr>
        <p:spPr>
          <a:xfrm>
            <a:off x="6625131" y="2523743"/>
            <a:ext cx="292608" cy="292608"/>
          </a:xfrm>
          <a:prstGeom prst="donu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7316" y="24688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7116" y="306324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7116" y="342900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Pre-drilling and boring for high-resistance terrain or rock where direct driving is not viable.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7015" y="219456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7015" y="219456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65615" y="239572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393630" y="2523743"/>
            <a:ext cx="292608" cy="292608"/>
          </a:xfrm>
          <a:prstGeom prst="down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65815" y="246888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5615" y="306324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Pile Driving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615" y="342900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Direct pile driving of steel profiles for all terrain types and project scales.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15769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15769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44369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ear 6 37"/>
          <p:cNvSpPr/>
          <p:nvPr/>
        </p:nvSpPr>
        <p:spPr>
          <a:xfrm>
            <a:off x="2472384" y="4672583"/>
            <a:ext cx="292608" cy="292608"/>
          </a:xfrm>
          <a:prstGeom prst="gear6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44569" y="46177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44369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Machining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4369" y="557784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Cutting driven profiles to the exact height required by the structure design.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4267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84267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12867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>
            <a:off x="5240882" y="4672583"/>
            <a:ext cx="292608" cy="292608"/>
          </a:xfrm>
          <a:prstGeom prst="star5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13067" y="46177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12867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Quality 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2867" y="557784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Alignment, verticality and depth verification. Detailed site reports.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52766" y="4343400"/>
            <a:ext cx="2423160" cy="20116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52766" y="4343400"/>
            <a:ext cx="24231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881366" y="4544568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8009381" y="4672583"/>
            <a:ext cx="292608" cy="292608"/>
          </a:xfrm>
          <a:prstGeom prst="rightArrow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81566" y="46177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1366" y="5212080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Distribution &amp; Assembly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1366" y="5577840"/>
            <a:ext cx="1965960" cy="7772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On-site material logistics and assembly of structures on top of the driven profiles.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CORE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Pile driving and drilling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84832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Direct pile driving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Installation of steel profiles by impact. Maximum speed in favorable terrain.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27832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Pre-drilling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Prior boring for high-resistance terrain, rock or hard strata.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70832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drilling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For terrain where pile driving is not viable. Boring and profile fixation.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13832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 terrain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Clay, sand, rock, mixed terrain and slopes. Soil heterogeneity is not a problem.</a:t>
            </a:r>
          </a:p>
        </p:txBody>
      </p:sp>
      <p:pic>
        <p:nvPicPr>
          <p:cNvPr id="14" name="Picture 13" descr="foto_maquinaria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4846320" cy="36347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0" y="5120640"/>
            <a:ext cx="4846320" cy="11887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5120640"/>
            <a:ext cx="508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5257800"/>
            <a:ext cx="4297680" cy="8686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D4A843"/>
                </a:solidFill>
                <a:latin typeface="Calibri"/>
              </a:defRPr>
            </a:pPr>
            <a:r>
              <a:t>9 simultaneous operational teams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Capacity for parallel projects across Spain, France, Portugal and Italy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Pull Out Test: reliable data before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Pile driving tests and POT trials with predefined load cycles. Real data to dimension foundations precisely.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Tension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Pull-out tests to verify the anchoring capacity of the driven profile in actual project soil.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9927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260604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Compression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Vertical load tests to verify the bearing capacity of the profile under structural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335" y="2286000"/>
            <a:ext cx="3291840" cy="219456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335" y="2286000"/>
            <a:ext cx="32918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655" y="260604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Lateral load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Lateral push tests to simulate wind actions on the photovoltaic or civil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728655" cy="100584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0800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10088575" cy="7315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D4A843"/>
                </a:solidFill>
                <a:latin typeface="Calibri"/>
              </a:defRPr>
            </a:pPr>
            <a:r>
              <a:t>Why does it matter?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 well-executed POT test prevents costly over-dimensioning and detects soil problems before committing to mass driving.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COMPLEMENTARY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Machining and quality control on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00" cy="39319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389120" cy="34747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Machining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Profile cutting to grade</a:t>
            </a:r>
          </a:p>
          <a:p>
            <a:pPr algn="l">
              <a:spcAft>
                <a:spcPts val="18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Once driven, profiles may end up at uneven heights. Machining consists of precision-cutting each profile to the exact elevation required by the structure design.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Millimetric precision</a:t>
            </a:r>
          </a:p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We ensure every profile sits at the specified height, enabling correct assembly and preventing mechanical stress.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5029200" cy="393192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4389120" cy="347472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Quality control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Comprehensive verification</a:t>
            </a:r>
          </a:p>
          <a:p>
            <a:pPr algn="l">
              <a:spcAft>
                <a:spcPts val="18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Systematic review of all driven profiles: alignment, verticality, depth and position against the design.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4A843"/>
                </a:solidFill>
                <a:latin typeface="Calibri"/>
              </a:defRPr>
            </a:pPr>
            <a:r>
              <a:t>Site reports</a:t>
            </a:r>
          </a:p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Detailed documentation: how many profiles meet specs, which require rework or re-driving. Full traceability.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Beyond solar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Our pile driving and drilling expertise applies to multiple sectors where steel profile foundations are key.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297680" cy="3291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Solar Photovoltaic Energy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Our core sector. +3,800 MW installed across solar plants of all sizes.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Utility-scale plants (&gt;50 MW)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Medium and distributed plants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Fixed structures and trackers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Driving, drilling, POT, machining and QC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029200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297680" cy="32918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Civil Works &amp; Infrastructure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The same pile driving technique applied to civil infrastructure.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Road safety barriers (guardrails)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Driven supports and posts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Industrial fencing and enclosures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→  Steel profile foundation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Own fleet, real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Two industry-reference models, compliant with the latest European environmental regulations.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A843"/>
                </a:solidFill>
                <a:latin typeface="Calibri"/>
              </a:defRPr>
            </a:pPr>
            <a:r>
              <a:t>Pile Drivers</a:t>
            </a:r>
          </a:p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7× Orteco 1000 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High-performance hydraulic pile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All-terrain driving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34256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High-precision positioning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18304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EU environmental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5029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A843"/>
                </a:solidFill>
                <a:latin typeface="Calibri"/>
              </a:defRPr>
            </a:pPr>
            <a:r>
              <a:t>Drill-Rammers</a:t>
            </a:r>
          </a:p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2× Faga MHPW 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66160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Dual: drilling + driving integrated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950208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Ideal for rock or high-resistance soil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34256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Maximum versatility in one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718304"/>
            <a:ext cx="4389120" cy="347472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→  Professional operator included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28655" cy="411480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Always rented with professional operator  ·  Optional assistant  ·  Coverage: Spain, France, Portugal &amp; Italy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INTERNATIONAL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 operate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011680" cy="33832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Spain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HEADQUARTERS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Main base of operations.</a:t>
            </a:r>
            <a:br/>
            <a:r>
              <a:t>Most of our +55 projects</a:t>
            </a:r>
            <a:br/>
            <a:r>
              <a:t>across the country.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4778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4778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3378" y="2240280"/>
            <a:ext cx="2011680" cy="33832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France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ACTIVE PROJECTS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Projects in southern France:</a:t>
            </a:r>
            <a:br/>
            <a:r>
              <a:t>Sillans la Cascade,</a:t>
            </a:r>
            <a:br/>
            <a:r>
              <a:t>Châteauvert, among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8036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8036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6636" y="2240280"/>
            <a:ext cx="2011680" cy="33832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Portugal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ACTIVE PROJECTS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Presence in Alentejo:</a:t>
            </a:r>
            <a:br/>
            <a:r>
              <a:t>PV Morgavel, São Teotonio</a:t>
            </a:r>
            <a:br/>
            <a:r>
              <a:t>and additional projects.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1295" y="1920240"/>
            <a:ext cx="2468880" cy="38404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91295" y="1920240"/>
            <a:ext cx="24688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9895" y="2240280"/>
            <a:ext cx="2011680" cy="33832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10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Italy</a:t>
            </a:r>
          </a:p>
          <a:p>
            <a:pPr algn="l">
              <a:spcAft>
                <a:spcPts val="1600"/>
              </a:spcAft>
              <a:defRPr sz="900" b="1">
                <a:solidFill>
                  <a:srgbClr val="D4A843"/>
                </a:solidFill>
                <a:latin typeface="Calibri"/>
              </a:defRPr>
            </a:pPr>
            <a:r>
              <a:t>EXPANDING</a:t>
            </a:r>
          </a:p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Mobilization capacity</a:t>
            </a:r>
            <a:br/>
            <a:r>
              <a:t>from our base.</a:t>
            </a:r>
            <a:br/>
            <a:r>
              <a:t>Market under development.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+3,800 MW installed with top-tier EPCs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371600"/>
                <a:gridCol w="301752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Project</a:t>
                      </a:r>
                    </a:p>
                  </a:txBody>
                  <a:tcPr marT="76200" marB="76200" marL="101600">
                    <a:solidFill>
                      <a:srgbClr val="1A1F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MW</a:t>
                      </a:r>
                    </a:p>
                  </a:txBody>
                  <a:tcPr marT="76200" marB="76200" marL="101600">
                    <a:solidFill>
                      <a:srgbClr val="1A1F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 marT="76200" marB="76200" marL="101600">
                    <a:solidFill>
                      <a:srgbClr val="1A1F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EPC / Client</a:t>
                      </a:r>
                    </a:p>
                  </a:txBody>
                  <a:tcPr marT="76200" marB="76200" marL="101600">
                    <a:solidFill>
                      <a:srgbClr val="1A1F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4A843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 marT="76200" marB="76200" marL="101600">
                    <a:solidFill>
                      <a:srgbClr val="1A1F3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Mula Solar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342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TSK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Ceclavín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Elecnor / Engie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Trina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 Nava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Engie / Sacyr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Nextracker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Algibyo + Girasoles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GES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Manzanares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155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FCC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Escatrón I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153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Prodiel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Garoña + La Muela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Axial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Nextracker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Talayuela II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Spain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FCC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Sillans la Cascade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France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Cobra / Engie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Morgavel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Portugal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GES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PVH</a:t>
                      </a:r>
                    </a:p>
                  </a:txBody>
                  <a:tcPr marT="76200" marB="76200" marL="101600">
                    <a:solidFill>
                      <a:srgbClr val="232A4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 (+45 projects)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+1,975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ES/FR/PT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Various EPCs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 marT="76200" marB="76200" marL="101600">
                    <a:solidFill>
                      <a:srgbClr val="1E243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solidFill>
            <a:srgbClr val="2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Total: +3,800 MW  ·  +55 projects  ·  4 countries  ·  +15 different EPCs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301752"/>
            <a:ext cx="17373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5720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Calibri"/>
              </a:defRPr>
            </a:pPr>
            <a:r>
              <a:t>THEY TRUST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3000" b="1">
                <a:solidFill>
                  <a:srgbClr val="161B2E"/>
                </a:solidFill>
                <a:latin typeface="Calibri"/>
              </a:defRPr>
            </a:pPr>
            <a:r>
              <a:t>Companies working with Hincado Directo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+15 EPCs, developers and structure manufacturers have trusted us with their projects.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GRUPO COBRA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3827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3827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ENGIE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96134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6134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SACYR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8441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441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FCC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0748" y="2240280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0748" y="2240280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ELECNOR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13827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3827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PRODIEL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96134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6134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441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441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AXIAL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0748" y="3252978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0748" y="3252978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GRUPO ORTIZ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ZELESTRA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13827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3827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SUNCRAFT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6134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134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ARESOL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78441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441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PVH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0748" y="4265676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0748" y="4265676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NEXTRACKER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TRINA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13827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3827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AJ BRAND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6134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6134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TCI GECOMP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441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441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IBÉRICA RENOV.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0748" y="5278374"/>
            <a:ext cx="1999427" cy="8481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0748" y="5278374"/>
            <a:ext cx="1999427" cy="848106"/>
          </a:xfrm>
          <a:prstGeom prst="rect">
            <a:avLst/>
          </a:prstGeom>
          <a:noFill/>
        </p:spPr>
        <p:txBody>
          <a:bodyPr wrap="square" anchor="ctr" lIns="45720" rIns="45720" tIns="45720" bIns="45720">
            <a:spAutoFit/>
          </a:bodyPr>
          <a:lstStyle/>
          <a:p>
            <a:pPr algn="ctr">
              <a:defRPr sz="1400" b="1">
                <a:solidFill>
                  <a:srgbClr val="161B2E"/>
                </a:solidFill>
                <a:latin typeface="Calibri"/>
              </a:defRPr>
            </a:pPr>
            <a:r>
              <a:t>TILSECO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Calibri"/>
              </a:defRPr>
            </a:pPr>
            <a:r>
              <a:t>+ CRC  ·  OSMOS  ·  and other partners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503920" cy="64008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Let's talk about your next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6160"/>
            <a:ext cx="7589520" cy="45720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Over 3,800 MW back us up. We are ready for your next challenge.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7200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Address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Duque de Sevilla 3, Ground Floor</a:t>
            </a:r>
            <a:br/>
            <a:r>
              <a:t>28002 Madrid, Spain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457200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Phone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+34 641 43 81 26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6975" y="4389120"/>
            <a:ext cx="2743200" cy="1097280"/>
          </a:xfrm>
          <a:prstGeom prst="rect">
            <a:avLst/>
          </a:prstGeom>
          <a:solidFill>
            <a:srgbClr val="232A42"/>
          </a:solidFill>
          <a:ln w="12700">
            <a:solidFill>
              <a:srgbClr val="3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16975" y="438912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5575" y="457200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4A843"/>
                </a:solidFill>
                <a:latin typeface="Calibri"/>
              </a:defRPr>
            </a:pPr>
            <a:r>
              <a:t>Web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www.hincadodirecto.com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45720" bIns="45720">
            <a:spAutoFit/>
          </a:bodyPr>
          <a:lstStyle/>
          <a:p>
            <a:pPr algn="ctr">
              <a:defRPr sz="1400" b="0">
                <a:solidFill>
                  <a:srgbClr val="D4A843"/>
                </a:solidFill>
                <a:latin typeface="Calibri"/>
              </a:defRPr>
            </a:pPr>
            <a:r>
              <a:t>info@hincadodirecto.com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hincado_bann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64008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